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5" r:id="rId6"/>
    <p:sldId id="266" r:id="rId7"/>
    <p:sldId id="267" r:id="rId8"/>
    <p:sldId id="261" r:id="rId9"/>
    <p:sldId id="264" r:id="rId10"/>
    <p:sldId id="268" r:id="rId11"/>
    <p:sldId id="271" r:id="rId12"/>
    <p:sldId id="259" r:id="rId13"/>
    <p:sldId id="270" r:id="rId14"/>
    <p:sldId id="269" r:id="rId15"/>
    <p:sldId id="263" r:id="rId16"/>
    <p:sldId id="273" r:id="rId17"/>
    <p:sldId id="27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63BAB-FF1A-1B54-93BA-BA55DFB65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B059C1-7D38-98A3-B273-3C8ED703B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F19DD-CEE2-C575-F1E0-5F66CDC9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88D526-8CA4-D88C-8931-DF0F799F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37149-303F-E2C5-7594-99E50F0A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8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E5C33-572C-33D1-2DBD-84A62878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9E356-911E-8AEA-C026-CD022FB25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748B1-39F2-36C0-3EA5-EC4C8AD1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C01DDA-662D-B7A1-E862-DD053A204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6A6DF3-5613-3E07-5007-7E292C0A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16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ACBDA-DEBC-505A-4906-6FE5B317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7FC9E2-FC7F-BAE2-2B24-74EAB3E47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96F67-47A3-188D-B843-0096300A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52F03E-087A-144B-D997-29B4D1A9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8EC1B-AA6E-EDFD-5D8C-25BBC6D7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9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BAC9D-9DA8-37A5-22B2-8592BBB3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5C47A-A300-B348-FEE2-E92C9866B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F7DF6-5D43-7609-5B94-E4C86A5C9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1E6C2E-E945-37E5-03B7-3437362F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62059A-D489-C4A0-A65E-0991339A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C32B03-99F6-C618-5746-7F065B6F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2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594B4-AD28-2E03-A2DA-9561E737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0EFC1-5902-C2B5-8552-C35F2B85E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C86369-20E7-18E6-B480-51FCA7510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65E55A-605E-ADBC-033A-33908FC45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61D719-1CD4-AE70-E2B3-A4249D682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E3FA79-22EB-241C-DA27-1BA76FF0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2AC6D2-6D6B-A83D-BBF2-9C4E661F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76DA0C-989C-5D72-932D-5BC1FECD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20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7079E-1153-709D-79B6-5A04A057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E901DF-9C38-3305-18A6-2D940170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3D045F-D9D3-8F19-AD7F-49A94398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3E676B-67F6-DB01-51D1-1C3F1C2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3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AB805C-BC39-0838-4CBC-02CCB633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5B79EB-7905-91D2-388F-BC4982D6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9F70E6-E70B-AF91-7587-21C62426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49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E3B90-17B2-DCA3-2CEB-1AEE3DA4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E71A4-A255-C660-2621-6C98A2CF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6292A-52DE-5A6C-9C6D-AF4477F41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F51C40-9FCE-405A-1BB8-B46DE6E9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6201E7-C7C0-14D3-1E7E-7C7EF1F0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48A34F-B8C2-933C-9D61-122CC6A1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86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8078B-C05A-4235-BDC1-9E68A5C7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119C55-47E6-FB2A-8BA7-DA6E065BF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6FDA5-B11B-2E35-CBAC-2FD7C7A73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D897A4-7917-BD9A-3032-91D3EFDF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FBFBB-0C05-B183-3A69-8FF7733B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DEC580-2E73-CED6-C7EB-40DE7873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1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1ABAF-A30F-397E-F812-5A82CDF8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B957B8-E9E0-D9E7-6E90-3B4FE493F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20B087-D207-7F08-7C65-6B510EA7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5E6B4-BC92-64F1-4159-64455B56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265144-EA29-16BD-4922-45483540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48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212DB7-AEF9-83EA-C371-E9CE76485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544EE9-A4A8-08B8-D9E3-C0EC0899F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F13D1-CC6E-5E96-2017-22222092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8352F-BC0F-791D-DD0C-AE7CFB30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D50456-EB23-4EC0-391A-E2E6F3AF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BEBC15-7781-11D9-38C9-4F0E402E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A4D067-9C75-D393-2281-14F5A108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F155E-F045-032A-5A67-1A6C08029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0CDDB-7929-4823-97C7-790607135B9F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B25B24-134D-64E9-6C39-8F28717CB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BFFB9-E644-B21B-D354-093772F23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31931-D5D0-43CF-B856-90DE6B4DF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63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C94E0-5DD0-CF68-5245-2FB876DAA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8000" dirty="0">
                <a:latin typeface="华文行楷" panose="02010800040101010101" pitchFamily="2" charset="-122"/>
                <a:ea typeface="华文行楷" panose="02010800040101010101" pitchFamily="2" charset="-122"/>
              </a:rPr>
              <a:t>微积分（下）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232DA8-BECF-0D76-3014-EC028D8D2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——</a:t>
            </a:r>
            <a:r>
              <a:rPr lang="zh-CN" altLang="en-US" sz="4000" dirty="0">
                <a:latin typeface="华文行楷" panose="02010800040101010101" pitchFamily="2" charset="-122"/>
                <a:ea typeface="华文行楷" panose="02010800040101010101" pitchFamily="2" charset="-122"/>
              </a:rPr>
              <a:t>曲线积分与曲面积分</a:t>
            </a:r>
          </a:p>
        </p:txBody>
      </p:sp>
    </p:spTree>
    <p:extLst>
      <p:ext uri="{BB962C8B-B14F-4D97-AF65-F5344CB8AC3E}">
        <p14:creationId xmlns:p14="http://schemas.microsoft.com/office/powerpoint/2010/main" val="360576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16F98-CB95-7D47-3B58-DA2C4908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130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四种积分的统一对比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71B2B-5136-1B95-07DF-F32793307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855662"/>
            <a:ext cx="10515600" cy="51466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第一类曲线积分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第二类曲线积分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第一类曲面积分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第二类曲面积分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C4870A-371C-EB4A-D345-E965EDDF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96" y="1084263"/>
            <a:ext cx="2428875" cy="8572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2F3F46-C61C-4518-6483-44F2F8045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733" y="3806980"/>
            <a:ext cx="2514600" cy="1162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F724C1-AAC9-A9CA-D4D9-3B5DC7B7A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5" y="2363942"/>
            <a:ext cx="2990850" cy="11715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E3A2F1-A944-4AC1-E11A-6B66F581D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816" y="5257219"/>
            <a:ext cx="453390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5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36EA0-D33F-A35F-7C64-8941280F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计算方法：参数方程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7DF94A-84F1-D1FB-2F54-2A77510E8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364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空间曲线：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CFD961-9941-6C84-6B54-545A5ACC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785" y="1021364"/>
            <a:ext cx="5000625" cy="5429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659727D-37F9-5914-1697-F6944FDF2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34" y="1461108"/>
            <a:ext cx="7858125" cy="828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674475-5B9D-5D02-9B71-72F57F01A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52390"/>
            <a:ext cx="3022600" cy="5850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6559281-4E27-0FFF-2AC9-22EF162F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175" y="2111599"/>
            <a:ext cx="4068763" cy="7600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7BDA9BF-6994-A195-86E0-CA42AA198513}"/>
              </a:ext>
            </a:extLst>
          </p:cNvPr>
          <p:cNvSpPr txBox="1"/>
          <p:nvPr/>
        </p:nvSpPr>
        <p:spPr>
          <a:xfrm>
            <a:off x="838200" y="2314190"/>
            <a:ext cx="6645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平面曲线：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8F6878-88AB-86A1-C509-FD3C2DAFB184}"/>
              </a:ext>
            </a:extLst>
          </p:cNvPr>
          <p:cNvSpPr txBox="1"/>
          <p:nvPr/>
        </p:nvSpPr>
        <p:spPr>
          <a:xfrm>
            <a:off x="3013075" y="3167222"/>
            <a:ext cx="616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F800BCD-8317-95AC-76DA-2FDBE5FB8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162625"/>
            <a:ext cx="1246188" cy="56146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41692CB-0E33-DE94-803B-9B0CAD12B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2400" y="2953520"/>
            <a:ext cx="3149156" cy="75641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7A5C6A7-764A-84EF-7653-AE7D0A1E2246}"/>
              </a:ext>
            </a:extLst>
          </p:cNvPr>
          <p:cNvSpPr txBox="1"/>
          <p:nvPr/>
        </p:nvSpPr>
        <p:spPr>
          <a:xfrm>
            <a:off x="3013075" y="4049309"/>
            <a:ext cx="616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A82BEFC-7DCE-514D-9B18-61DB068A7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1" y="4019618"/>
            <a:ext cx="1246187" cy="62309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17E120C-3177-E7B6-4F8E-5AC42FE3AA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3512" y="3904144"/>
            <a:ext cx="3935413" cy="81530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B31B69F-D856-BE24-AA5A-8E2EB7AC70B7}"/>
              </a:ext>
            </a:extLst>
          </p:cNvPr>
          <p:cNvSpPr txBox="1"/>
          <p:nvPr/>
        </p:nvSpPr>
        <p:spPr>
          <a:xfrm>
            <a:off x="3013075" y="5098115"/>
            <a:ext cx="616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00A36FF-AF88-DF70-A154-A96D5EF12615}"/>
              </a:ext>
            </a:extLst>
          </p:cNvPr>
          <p:cNvPicPr>
            <a:picLocks/>
          </p:cNvPicPr>
          <p:nvPr/>
        </p:nvPicPr>
        <p:blipFill>
          <a:blip r:embed="rId10"/>
          <a:srcRect l="2120"/>
          <a:stretch>
            <a:fillRect/>
          </a:stretch>
        </p:blipFill>
        <p:spPr>
          <a:xfrm>
            <a:off x="3556000" y="4749140"/>
            <a:ext cx="1485900" cy="125279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E27930E-E469-A84A-536E-309C8FF6F5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3512" y="4951195"/>
            <a:ext cx="5570386" cy="8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7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5CD3-4712-09E9-94AD-8F5393E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27B60-FD61-FF11-54CA-E70B0C89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化简方法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FDD735-888C-1E0C-08E0-CC085E5F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055158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普通对称性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轴对称，且被积函数关于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有奇偶性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关于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轴对称，且被积函数关于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有奇偶性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轮换对称性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平面曲线：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 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可互换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空间曲线：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 y z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可互换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形心公式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9D41F5-FE26-F3DD-E48C-98CC3716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342" y="1526074"/>
            <a:ext cx="4564592" cy="85464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5B925CE-33A8-578D-8BA5-A5536BCF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92" y="3837062"/>
            <a:ext cx="6535209" cy="26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6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D7DD-41D1-EED0-7CA3-A1777FF9C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6F15DA-260E-CCFB-E13C-2CA50EBD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CFF7F3-3FF3-E7FD-A2C4-9FD8F844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11" y="971782"/>
            <a:ext cx="8858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4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FFDB-6FCD-6A83-2AF6-E3C33904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D3F31-E9A1-7727-1039-EC9E643D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9DB15D-D334-B0C6-AA6C-DCFE017F6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9" y="931823"/>
            <a:ext cx="5915257" cy="193319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6D7C1C8-8BD5-6B12-5B55-060146A7D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748" y="2865022"/>
            <a:ext cx="549209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1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A217-CD80-6EF9-16FF-05DC4496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00D88-BEF0-D6AA-AF8B-70386C58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FC93B1-3B73-8112-F349-C64922D1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0" y="1023821"/>
            <a:ext cx="6848475" cy="13906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3E95DF-6371-2C74-131B-1E03F2EFB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685" y="2252312"/>
            <a:ext cx="5249205" cy="42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BE56-B981-F785-ED81-0CCEA7CE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4A520-0584-5424-9C1D-AFA28655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计算方法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E62A5E-97BC-6BD8-31A6-90280B2E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995891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直接利用参数方程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利用格林公式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C96677-2293-F472-DA33-7BF535734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8" y="855377"/>
            <a:ext cx="5456769" cy="8374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03517E-C2A1-9219-1A47-2993639D4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068" y="1780537"/>
            <a:ext cx="5672666" cy="2914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AE08CC6-C5A0-CB73-74B8-ACB41CCD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697" y="4694541"/>
            <a:ext cx="5253569" cy="21126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8F9ABA-912D-1FB8-8726-BA097DA23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44" y="2094158"/>
            <a:ext cx="4936273" cy="228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1379A-EE9D-92C7-D704-7F26AE82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12D04-BB9D-FF9C-0368-52AC56F0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斯托克斯公式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B5A5EB-B5C8-E1DB-3C31-52CB6077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07" y="1386701"/>
            <a:ext cx="11282880" cy="19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7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82A9-0818-7743-1DE5-F773AB77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DAE18-EA72-880C-C048-8373C0DC6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93EFE1-7D05-F405-E537-7C21D878D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33" y="1035553"/>
            <a:ext cx="5573867" cy="12984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08AE0F-B389-83E6-6FB0-951160AEA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029" y="2361116"/>
            <a:ext cx="5820076" cy="430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8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C1DA-A624-350E-7485-EEE0CCB9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B3256-EDA7-C2D7-70F8-7B065B0D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第二类曲线积分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5A4FC0-85C9-3037-0880-BA294542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03" y="1199549"/>
            <a:ext cx="6032229" cy="18366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9FDC78-2744-1881-C1AA-C89A51E38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151" y="2011680"/>
            <a:ext cx="5744146" cy="44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C931-B629-0A32-2291-A9B167C3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65E3B-D103-796B-6A87-FDDBCD1E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1239502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第一类曲面积分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计算方法：投、代、换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83AD7A-B7A5-1B10-EB40-2CC4882C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62" y="1429060"/>
            <a:ext cx="3356471" cy="13255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47C74A0-6DE6-9ACA-69FA-521F2D0A1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607" y="1429059"/>
            <a:ext cx="4693575" cy="132556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D85AE63-A544-F250-265E-700F5837F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54" y="2754623"/>
            <a:ext cx="9795771" cy="138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8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6094-6FF3-440D-C422-A027A759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B3E6D-7467-ACA6-6448-62BE618E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第一类曲面积分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759151-6C91-6CC2-04D6-C085DF5E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83" y="1006577"/>
            <a:ext cx="6082788" cy="19438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12FD40-426B-D194-5168-57C12FE79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26" y="1923137"/>
            <a:ext cx="5383288" cy="46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6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BAF6-018D-8CD7-19A3-DBC2B09B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F28CF-A125-9A9F-0295-A2C6597B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第一类曲面积分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3DE9F4-C75E-4B2A-BA3B-74E8EBC7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43" y="1112683"/>
            <a:ext cx="6642991" cy="121132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63A4AF-D91B-29ED-87AD-4FDC5AC01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798" y="2776394"/>
            <a:ext cx="5294599" cy="33163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75A2711-CC33-684E-7F31-39C65951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9217"/>
            <a:ext cx="6790798" cy="424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3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FB542-43A9-18DC-8F1E-BFE1497C3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8609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直接投影法：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高斯公式：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139867E-D8D6-DA76-1875-747D4436D199}"/>
              </a:ext>
            </a:extLst>
          </p:cNvPr>
          <p:cNvSpPr txBox="1">
            <a:spLocks/>
          </p:cNvSpPr>
          <p:nvPr/>
        </p:nvSpPr>
        <p:spPr>
          <a:xfrm>
            <a:off x="114298" y="-126015"/>
            <a:ext cx="118621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第二类曲面积分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计算方法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BE20E0-98EE-7E54-DC82-397AC3569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58" y="2945084"/>
            <a:ext cx="74961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3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8ABB-A95B-68ED-3E5F-CD0B426A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A5EAE-438F-44CE-A4D0-C92562A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第二类曲面积分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58F69A-6E6A-CB9E-3A8A-CCDF46EA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9" y="1083178"/>
            <a:ext cx="5109698" cy="16747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18AE38-8931-A4E6-B9AE-D5D852F18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255" y="2750569"/>
            <a:ext cx="6424558" cy="410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3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D0C5-5855-7427-2992-BFE32766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6B996-0479-F22C-7BF4-2F5F7990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8" y="-12601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第二类曲面积分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真题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7B2B54-39FA-3729-1EF8-3FC9CDB9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81" y="955056"/>
            <a:ext cx="5348636" cy="16117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42DE7B-D9FC-3693-22EC-CE47A0175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8" y="2441650"/>
            <a:ext cx="7278431" cy="429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8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201</Words>
  <Application>Microsoft Office PowerPoint</Application>
  <PresentationFormat>宽屏</PresentationFormat>
  <Paragraphs>46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华文新魏</vt:lpstr>
      <vt:lpstr>华文行楷</vt:lpstr>
      <vt:lpstr>楷体</vt:lpstr>
      <vt:lpstr>Arial</vt:lpstr>
      <vt:lpstr>Office 主题​​</vt:lpstr>
      <vt:lpstr>微积分（下）</vt:lpstr>
      <vt:lpstr>四种积分的统一对比</vt:lpstr>
      <vt:lpstr>第一类曲线积分——计算方法：参数方程</vt:lpstr>
      <vt:lpstr>第一类曲线积分——化简方法</vt:lpstr>
      <vt:lpstr>第一类曲线积分——真题</vt:lpstr>
      <vt:lpstr>第一类曲线积分——真题</vt:lpstr>
      <vt:lpstr>第一类曲线积分——真题</vt:lpstr>
      <vt:lpstr>第二类曲线积分——计算方法</vt:lpstr>
      <vt:lpstr>第二类曲线积分——斯托克斯公式</vt:lpstr>
      <vt:lpstr>第二类曲线积分——真题</vt:lpstr>
      <vt:lpstr>第二类曲线积分——真题</vt:lpstr>
      <vt:lpstr>第一类曲面积分——计算方法：投、代、换</vt:lpstr>
      <vt:lpstr>第一类曲面积分——真题</vt:lpstr>
      <vt:lpstr>第一类曲面积分——真题</vt:lpstr>
      <vt:lpstr>PowerPoint 演示文稿</vt:lpstr>
      <vt:lpstr>第二类曲面积分——真题</vt:lpstr>
      <vt:lpstr>第二类曲面积分——真题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gong</dc:creator>
  <cp:lastModifiedBy>. gong</cp:lastModifiedBy>
  <cp:revision>56</cp:revision>
  <cp:lastPrinted>2026-06-14T06:45:47Z</cp:lastPrinted>
  <dcterms:created xsi:type="dcterms:W3CDTF">2026-06-13T15:45:57Z</dcterms:created>
  <dcterms:modified xsi:type="dcterms:W3CDTF">2026-06-14T06:46:12Z</dcterms:modified>
</cp:coreProperties>
</file>